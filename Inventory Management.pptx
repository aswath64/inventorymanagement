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embeddedFontLst>
    <p:embeddedFont>
      <p:font typeface="Anaheim" pitchFamily="2" charset="0"/>
      <p:regular r:id="rId19"/>
      <p:bold r:id="rId20"/>
    </p:embeddedFont>
    <p:embeddedFont>
      <p:font typeface="Anek Latin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686028-F520-4D1C-BD28-183DF10F2F79}">
  <a:tblStyle styleId="{43686028-F520-4D1C-BD28-183DF10F2F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3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4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1905d2a10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1905d2a10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0674FB2C-7950-3E12-629C-9DCF78FA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3B96CD5C-176E-5A20-8FEC-F0A089290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842981C0-CD1A-7273-EE6E-4B262C2BE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43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03A6AE12-1BFA-E2EB-90BD-E29E05F7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617CCF8D-C45C-5B3C-6CDD-19AFAB73C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7EBB008D-68AA-F7E2-FEEC-1A9176094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30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8DA96538-BDB0-75B7-7B1F-4203E6C6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8DBEE040-D212-1A6E-9452-0A2A55DE0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11678684-0C9E-A4F5-0909-3B17184D0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954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46B31842-1BF0-2355-D9F8-ADB98FBA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27E785C5-EE25-8B51-79BB-0FA87000B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DCC3FF9A-DD31-32D7-A51B-63FB9C84C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914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4F073A35-E417-2EDA-9BCD-BC454D1D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EECD6458-34CA-0ADD-3C9B-BD0D08A71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7F341D9F-CDCF-B657-85C1-BACC5F792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466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CD1948DA-9FC2-7227-4594-6A4FAF444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4B175E99-4B12-D5AB-E5CD-D55D0F10B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1789929B-C79C-AF90-10BA-C9F2D1313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70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ABB9A126-C481-C118-04DB-F235B118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210832EC-A1E9-14E1-9247-5CE4BB935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AFDD71D2-9E46-DA03-B156-42B500DE4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305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9C29D015-B0CB-9D5B-5137-C837636D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2B75FE3D-986D-B863-9DF0-0D31923AC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B4E721E7-8D7A-9EDB-607E-6512724DD3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84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97603894-0E1B-4C42-D13E-038739F0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1C63BEBA-04E5-903D-E052-9C4D3D561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70367A9A-37D5-0563-4F1D-7AFF8BE02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413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AE12C60C-6DBE-1ADC-8BE1-9F3A8E21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A717D1E0-81A3-4B43-7456-9A04DF011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D3D8D272-DFEE-6A5D-24CC-F64978740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53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8D691A83-0C3F-2806-020B-0629F537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A5243B2F-D7CC-EFB3-3670-1212F6471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123F00DA-F7A1-2885-F998-91CC16C89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41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985A6128-7E0A-1A6F-A3D9-2738C0C8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5F568532-FDA8-E7F5-2B68-E2195BF7C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5406004F-F5BC-E680-55C5-9C3CADD35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848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15A5BC1E-8E3D-2777-4D3C-16B03DC0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3379D5D4-667D-256F-5D2A-C012759EF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1521CD7D-EEB4-173E-8F7D-5BF484118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043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9ADCB863-1C30-3F65-27BF-49002DB0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3aebdc6f84_0_5:notes">
            <a:extLst>
              <a:ext uri="{FF2B5EF4-FFF2-40B4-BE49-F238E27FC236}">
                <a16:creationId xmlns:a16="http://schemas.microsoft.com/office/drawing/2014/main" id="{6DDA4515-5AAD-2135-17B6-853C3F026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3aebdc6f84_0_5:notes">
            <a:extLst>
              <a:ext uri="{FF2B5EF4-FFF2-40B4-BE49-F238E27FC236}">
                <a16:creationId xmlns:a16="http://schemas.microsoft.com/office/drawing/2014/main" id="{FBA17016-562E-8386-7E0E-658548857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00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8.png" /><Relationship Id="rId4" Type="http://schemas.openxmlformats.org/officeDocument/2006/relationships/image" Target="../media/image6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13" name="Google Shape;13;p2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Google Shape;14;p2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5" name="Google Shape;15;p2"/>
          <p:cNvSpPr/>
          <p:nvPr/>
        </p:nvSpPr>
        <p:spPr>
          <a:xfrm>
            <a:off x="308475" y="638400"/>
            <a:ext cx="5186400" cy="3860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144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236725"/>
            <a:ext cx="713400" cy="4684500"/>
          </a:xfrm>
          <a:prstGeom prst="rect">
            <a:avLst/>
          </a:prstGeom>
          <a:gradFill>
            <a:gsLst>
              <a:gs pos="0">
                <a:srgbClr val="212121">
                  <a:alpha val="10588"/>
                  <a:alpha val="34580"/>
                </a:srgbClr>
              </a:gs>
              <a:gs pos="50000">
                <a:srgbClr val="F2F2F2">
                  <a:alpha val="0"/>
                  <a:alpha val="34580"/>
                </a:srgbClr>
              </a:gs>
              <a:gs pos="100000">
                <a:srgbClr val="212121">
                  <a:alpha val="10588"/>
                  <a:alpha val="345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7775" y="1018650"/>
            <a:ext cx="3980700" cy="29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84575" y="3931054"/>
            <a:ext cx="390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87979" y="1650716"/>
            <a:ext cx="430725" cy="41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87966" y="3508691"/>
            <a:ext cx="430725" cy="41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7" name="Google Shape;67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" name="Google Shape;69;p7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70" name="Google Shape;70;p7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" name="Google Shape;71;p7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  <p:sp>
          <p:nvSpPr>
            <p:cNvPr id="72" name="Google Shape;72;p7"/>
            <p:cNvSpPr/>
            <p:nvPr/>
          </p:nvSpPr>
          <p:spPr>
            <a:xfrm>
              <a:off x="0" y="236725"/>
              <a:ext cx="713400" cy="4684500"/>
            </a:xfrm>
            <a:prstGeom prst="rect">
              <a:avLst/>
            </a:prstGeom>
            <a:gradFill>
              <a:gsLst>
                <a:gs pos="0">
                  <a:srgbClr val="212121">
                    <a:alpha val="23921"/>
                    <a:alpha val="34580"/>
                  </a:srgbClr>
                </a:gs>
                <a:gs pos="100000">
                  <a:srgbClr val="737373">
                    <a:alpha val="0"/>
                    <a:alpha val="3458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 flipH="1">
            <a:off x="982850" y="1428750"/>
            <a:ext cx="5698500" cy="7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ubTitle" idx="1"/>
          </p:nvPr>
        </p:nvSpPr>
        <p:spPr>
          <a:xfrm flipH="1">
            <a:off x="1549550" y="2495550"/>
            <a:ext cx="4565100" cy="12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20" name="Google Shape;420;p3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37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423" name="Google Shape;423;p37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4" name="Google Shape;424;p37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  <p:sp>
          <p:nvSpPr>
            <p:cNvPr id="425" name="Google Shape;425;p37"/>
            <p:cNvSpPr/>
            <p:nvPr/>
          </p:nvSpPr>
          <p:spPr>
            <a:xfrm>
              <a:off x="0" y="236725"/>
              <a:ext cx="713400" cy="4684500"/>
            </a:xfrm>
            <a:prstGeom prst="rect">
              <a:avLst/>
            </a:prstGeom>
            <a:gradFill>
              <a:gsLst>
                <a:gs pos="0">
                  <a:srgbClr val="212121">
                    <a:alpha val="23921"/>
                    <a:alpha val="34580"/>
                  </a:srgbClr>
                </a:gs>
                <a:gs pos="100000">
                  <a:srgbClr val="737373">
                    <a:alpha val="0"/>
                    <a:alpha val="3458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" name="Google Shape;426;p37"/>
          <p:cNvGrpSpPr/>
          <p:nvPr/>
        </p:nvGrpSpPr>
        <p:grpSpPr>
          <a:xfrm>
            <a:off x="627924" y="127042"/>
            <a:ext cx="8173401" cy="4147684"/>
            <a:chOff x="627924" y="127042"/>
            <a:chExt cx="8173401" cy="4147684"/>
          </a:xfrm>
        </p:grpSpPr>
        <p:pic>
          <p:nvPicPr>
            <p:cNvPr id="427" name="Google Shape;42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48199">
              <a:off x="894137" y="533387"/>
              <a:ext cx="3490604" cy="2376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428" name="Google Shape;42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48197">
              <a:off x="679973" y="1533758"/>
              <a:ext cx="7577579" cy="257888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429" name="Google Shape;429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104686" flipH="1">
              <a:off x="5290260" y="678855"/>
              <a:ext cx="3097179" cy="312283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430" name="Google Shape;430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34436" y="134005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431" name="Google Shape;431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305601">
              <a:off x="1528990" y="148353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432" name="Google Shape;432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70936" y="127042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433" name="Google Shape;433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305601">
              <a:off x="7965490" y="141389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434" name="Google Shape;434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6705601">
              <a:off x="8306837" y="2892364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5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3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37" name="Google Shape;437;p3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9" name="Google Shape;439;p38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440" name="Google Shape;440;p38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1" name="Google Shape;441;p38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  <p:sp>
          <p:nvSpPr>
            <p:cNvPr id="442" name="Google Shape;442;p38"/>
            <p:cNvSpPr/>
            <p:nvPr/>
          </p:nvSpPr>
          <p:spPr>
            <a:xfrm>
              <a:off x="0" y="236725"/>
              <a:ext cx="713400" cy="4684500"/>
            </a:xfrm>
            <a:prstGeom prst="rect">
              <a:avLst/>
            </a:prstGeom>
            <a:gradFill>
              <a:gsLst>
                <a:gs pos="0">
                  <a:srgbClr val="212121">
                    <a:alpha val="23921"/>
                    <a:alpha val="34580"/>
                  </a:srgbClr>
                </a:gs>
                <a:gs pos="100000">
                  <a:srgbClr val="737373">
                    <a:alpha val="0"/>
                    <a:alpha val="3458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3722">
            <a:off x="1826979" y="273872"/>
            <a:ext cx="5468735" cy="379362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44" name="Google Shape;44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986" y="100142"/>
            <a:ext cx="183100" cy="5620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445" name="Google Shape;4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86049">
            <a:off x="2673661" y="114480"/>
            <a:ext cx="183100" cy="5620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446" name="Google Shape;4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72410">
            <a:off x="3077136" y="92960"/>
            <a:ext cx="183100" cy="5620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447" name="Google Shape;44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9269" y="30182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5_1_1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3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50" name="Google Shape;450;p3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" name="Google Shape;452;p39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453" name="Google Shape;453;p39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4" name="Google Shape;454;p39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  <p:sp>
          <p:nvSpPr>
            <p:cNvPr id="455" name="Google Shape;455;p39"/>
            <p:cNvSpPr/>
            <p:nvPr/>
          </p:nvSpPr>
          <p:spPr>
            <a:xfrm>
              <a:off x="0" y="236725"/>
              <a:ext cx="713400" cy="4684500"/>
            </a:xfrm>
            <a:prstGeom prst="rect">
              <a:avLst/>
            </a:prstGeom>
            <a:gradFill>
              <a:gsLst>
                <a:gs pos="0">
                  <a:srgbClr val="212121">
                    <a:alpha val="23921"/>
                    <a:alpha val="34580"/>
                  </a:srgbClr>
                </a:gs>
                <a:gs pos="100000">
                  <a:srgbClr val="737373">
                    <a:alpha val="0"/>
                    <a:alpha val="3458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39"/>
          <p:cNvGrpSpPr/>
          <p:nvPr/>
        </p:nvGrpSpPr>
        <p:grpSpPr>
          <a:xfrm>
            <a:off x="845911" y="1122490"/>
            <a:ext cx="7879921" cy="3528600"/>
            <a:chOff x="845911" y="1122490"/>
            <a:chExt cx="7879921" cy="3528600"/>
          </a:xfrm>
        </p:grpSpPr>
        <p:grpSp>
          <p:nvGrpSpPr>
            <p:cNvPr id="457" name="Google Shape;457;p39"/>
            <p:cNvGrpSpPr/>
            <p:nvPr/>
          </p:nvGrpSpPr>
          <p:grpSpPr>
            <a:xfrm rot="5400000">
              <a:off x="3008026" y="-1039625"/>
              <a:ext cx="3528600" cy="7852829"/>
              <a:chOff x="5153472" y="130783"/>
              <a:chExt cx="3528600" cy="7852829"/>
            </a:xfrm>
          </p:grpSpPr>
          <p:sp>
            <p:nvSpPr>
              <p:cNvPr id="458" name="Google Shape;458;p39"/>
              <p:cNvSpPr/>
              <p:nvPr/>
            </p:nvSpPr>
            <p:spPr>
              <a:xfrm rot="122081">
                <a:off x="5286994" y="367817"/>
                <a:ext cx="3261556" cy="7560291"/>
              </a:xfrm>
              <a:prstGeom prst="rect">
                <a:avLst/>
              </a:prstGeom>
              <a:solidFill>
                <a:srgbClr val="FAF9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59" name="Google Shape;459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07386" y="130783"/>
                <a:ext cx="183100" cy="5620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460" name="Google Shape;46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4503404">
              <a:off x="8339166" y="2172267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461" name="Google Shape;46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333139">
              <a:off x="8305951" y="3710792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5_1_1_1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4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64" name="Google Shape;464;p4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0" y="236725"/>
              <a:ext cx="8844900" cy="468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6" name="Google Shape;466;p40"/>
            <p:cNvGrpSpPr/>
            <p:nvPr/>
          </p:nvGrpSpPr>
          <p:grpSpPr>
            <a:xfrm>
              <a:off x="501" y="236725"/>
              <a:ext cx="8966411" cy="4777650"/>
              <a:chOff x="469693" y="236725"/>
              <a:chExt cx="8497357" cy="4777650"/>
            </a:xfrm>
          </p:grpSpPr>
          <p:pic>
            <p:nvPicPr>
              <p:cNvPr id="467" name="Google Shape;467;p40"/>
              <p:cNvPicPr preferRelativeResize="0"/>
              <p:nvPr/>
            </p:nvPicPr>
            <p:blipFill rotWithShape="1">
              <a:blip r:embed="rId2">
                <a:alphaModFix amt="49000"/>
              </a:blip>
              <a:srcRect t="9" b="9"/>
              <a:stretch/>
            </p:blipFill>
            <p:spPr>
              <a:xfrm>
                <a:off x="469693" y="236725"/>
                <a:ext cx="8382203" cy="468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8" name="Google Shape;468;p40"/>
              <p:cNvSpPr/>
              <p:nvPr/>
            </p:nvSpPr>
            <p:spPr>
              <a:xfrm>
                <a:off x="8608375" y="1477775"/>
                <a:ext cx="358675" cy="3536600"/>
              </a:xfrm>
              <a:custGeom>
                <a:avLst/>
                <a:gdLst/>
                <a:ahLst/>
                <a:cxnLst/>
                <a:rect l="l" t="t" r="r" b="b"/>
                <a:pathLst>
                  <a:path w="14347" h="141464" extrusionOk="0">
                    <a:moveTo>
                      <a:pt x="0" y="4878"/>
                    </a:moveTo>
                    <a:lnTo>
                      <a:pt x="13486" y="0"/>
                    </a:lnTo>
                    <a:lnTo>
                      <a:pt x="14347" y="141464"/>
                    </a:lnTo>
                    <a:lnTo>
                      <a:pt x="0" y="1414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  <p:sp>
          <p:nvSpPr>
            <p:cNvPr id="469" name="Google Shape;469;p40"/>
            <p:cNvSpPr/>
            <p:nvPr/>
          </p:nvSpPr>
          <p:spPr>
            <a:xfrm>
              <a:off x="0" y="236725"/>
              <a:ext cx="713400" cy="4684500"/>
            </a:xfrm>
            <a:prstGeom prst="rect">
              <a:avLst/>
            </a:prstGeom>
            <a:gradFill>
              <a:gsLst>
                <a:gs pos="0">
                  <a:srgbClr val="212121">
                    <a:alpha val="23921"/>
                    <a:alpha val="34580"/>
                  </a:srgbClr>
                </a:gs>
                <a:gs pos="100000">
                  <a:srgbClr val="737373">
                    <a:alpha val="0"/>
                    <a:alpha val="3458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0" name="Google Shape;4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4268" y="1709350"/>
            <a:ext cx="3653300" cy="2789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71" name="Google Shape;4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392" y="632996"/>
            <a:ext cx="4140101" cy="4174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472" name="Google Shape;472;p40"/>
          <p:cNvGrpSpPr/>
          <p:nvPr/>
        </p:nvGrpSpPr>
        <p:grpSpPr>
          <a:xfrm>
            <a:off x="5768249" y="130783"/>
            <a:ext cx="1283100" cy="1379572"/>
            <a:chOff x="5768249" y="130783"/>
            <a:chExt cx="1283100" cy="1379572"/>
          </a:xfrm>
        </p:grpSpPr>
        <p:grpSp>
          <p:nvGrpSpPr>
            <p:cNvPr id="473" name="Google Shape;473;p40"/>
            <p:cNvGrpSpPr/>
            <p:nvPr/>
          </p:nvGrpSpPr>
          <p:grpSpPr>
            <a:xfrm>
              <a:off x="5768249" y="215556"/>
              <a:ext cx="1283100" cy="1294800"/>
              <a:chOff x="5336149" y="1271359"/>
              <a:chExt cx="1283100" cy="1294800"/>
            </a:xfrm>
          </p:grpSpPr>
          <p:sp>
            <p:nvSpPr>
              <p:cNvPr id="474" name="Google Shape;474;p40"/>
              <p:cNvSpPr/>
              <p:nvPr/>
            </p:nvSpPr>
            <p:spPr>
              <a:xfrm rot="-221456">
                <a:off x="5374197" y="1308941"/>
                <a:ext cx="1207004" cy="1219635"/>
              </a:xfrm>
              <a:prstGeom prst="rect">
                <a:avLst/>
              </a:prstGeom>
              <a:solidFill>
                <a:srgbClr val="FAF9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5" name="Google Shape;475;p40"/>
              <p:cNvGrpSpPr/>
              <p:nvPr/>
            </p:nvGrpSpPr>
            <p:grpSpPr>
              <a:xfrm>
                <a:off x="5729111" y="1524921"/>
                <a:ext cx="497191" cy="787669"/>
                <a:chOff x="3788700" y="4208425"/>
                <a:chExt cx="391150" cy="619675"/>
              </a:xfrm>
            </p:grpSpPr>
            <p:sp>
              <p:nvSpPr>
                <p:cNvPr id="476" name="Google Shape;476;p40"/>
                <p:cNvSpPr/>
                <p:nvPr/>
              </p:nvSpPr>
              <p:spPr>
                <a:xfrm>
                  <a:off x="3788700" y="4208425"/>
                  <a:ext cx="391150" cy="3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46" h="12978" extrusionOk="0">
                      <a:moveTo>
                        <a:pt x="7998" y="0"/>
                      </a:moveTo>
                      <a:cubicBezTo>
                        <a:pt x="7357" y="0"/>
                        <a:pt x="6719" y="53"/>
                        <a:pt x="6105" y="135"/>
                      </a:cubicBezTo>
                      <a:cubicBezTo>
                        <a:pt x="3637" y="469"/>
                        <a:pt x="968" y="1536"/>
                        <a:pt x="68" y="4105"/>
                      </a:cubicBezTo>
                      <a:cubicBezTo>
                        <a:pt x="1" y="4205"/>
                        <a:pt x="134" y="4472"/>
                        <a:pt x="168" y="4505"/>
                      </a:cubicBezTo>
                      <a:cubicBezTo>
                        <a:pt x="301" y="4838"/>
                        <a:pt x="501" y="5139"/>
                        <a:pt x="668" y="5472"/>
                      </a:cubicBezTo>
                      <a:cubicBezTo>
                        <a:pt x="835" y="5772"/>
                        <a:pt x="1068" y="6106"/>
                        <a:pt x="1268" y="6373"/>
                      </a:cubicBezTo>
                      <a:cubicBezTo>
                        <a:pt x="1268" y="6436"/>
                        <a:pt x="1541" y="6742"/>
                        <a:pt x="1567" y="6742"/>
                      </a:cubicBezTo>
                      <a:cubicBezTo>
                        <a:pt x="1568" y="6742"/>
                        <a:pt x="1569" y="6741"/>
                        <a:pt x="1569" y="6740"/>
                      </a:cubicBezTo>
                      <a:cubicBezTo>
                        <a:pt x="2269" y="4772"/>
                        <a:pt x="4104" y="3604"/>
                        <a:pt x="6072" y="3071"/>
                      </a:cubicBezTo>
                      <a:cubicBezTo>
                        <a:pt x="7117" y="2784"/>
                        <a:pt x="8299" y="2591"/>
                        <a:pt x="9471" y="2591"/>
                      </a:cubicBezTo>
                      <a:cubicBezTo>
                        <a:pt x="10617" y="2591"/>
                        <a:pt x="11754" y="2776"/>
                        <a:pt x="12743" y="3237"/>
                      </a:cubicBezTo>
                      <a:cubicBezTo>
                        <a:pt x="13144" y="3437"/>
                        <a:pt x="13511" y="3638"/>
                        <a:pt x="13911" y="3938"/>
                      </a:cubicBezTo>
                      <a:cubicBezTo>
                        <a:pt x="13951" y="3970"/>
                        <a:pt x="13992" y="4001"/>
                        <a:pt x="14031" y="4030"/>
                      </a:cubicBezTo>
                      <a:lnTo>
                        <a:pt x="14031" y="4030"/>
                      </a:lnTo>
                      <a:cubicBezTo>
                        <a:pt x="14120" y="4655"/>
                        <a:pt x="14065" y="5290"/>
                        <a:pt x="13911" y="5906"/>
                      </a:cubicBezTo>
                      <a:cubicBezTo>
                        <a:pt x="13410" y="7674"/>
                        <a:pt x="11976" y="9075"/>
                        <a:pt x="10242" y="9775"/>
                      </a:cubicBezTo>
                      <a:cubicBezTo>
                        <a:pt x="9141" y="10176"/>
                        <a:pt x="7973" y="10342"/>
                        <a:pt x="6806" y="10342"/>
                      </a:cubicBezTo>
                      <a:cubicBezTo>
                        <a:pt x="6239" y="10342"/>
                        <a:pt x="5638" y="10309"/>
                        <a:pt x="5071" y="10276"/>
                      </a:cubicBezTo>
                      <a:cubicBezTo>
                        <a:pt x="4742" y="10221"/>
                        <a:pt x="4403" y="10166"/>
                        <a:pt x="4076" y="10166"/>
                      </a:cubicBezTo>
                      <a:cubicBezTo>
                        <a:pt x="3807" y="10166"/>
                        <a:pt x="3545" y="10203"/>
                        <a:pt x="3303" y="10309"/>
                      </a:cubicBezTo>
                      <a:cubicBezTo>
                        <a:pt x="3170" y="10342"/>
                        <a:pt x="3837" y="11610"/>
                        <a:pt x="3937" y="11677"/>
                      </a:cubicBezTo>
                      <a:cubicBezTo>
                        <a:pt x="4002" y="11807"/>
                        <a:pt x="4604" y="12947"/>
                        <a:pt x="4790" y="12947"/>
                      </a:cubicBezTo>
                      <a:cubicBezTo>
                        <a:pt x="4795" y="12947"/>
                        <a:pt x="4800" y="12946"/>
                        <a:pt x="4804" y="12944"/>
                      </a:cubicBezTo>
                      <a:cubicBezTo>
                        <a:pt x="5037" y="12828"/>
                        <a:pt x="5283" y="12788"/>
                        <a:pt x="5533" y="12788"/>
                      </a:cubicBezTo>
                      <a:cubicBezTo>
                        <a:pt x="5856" y="12788"/>
                        <a:pt x="6186" y="12855"/>
                        <a:pt x="6506" y="12911"/>
                      </a:cubicBezTo>
                      <a:cubicBezTo>
                        <a:pt x="7073" y="12978"/>
                        <a:pt x="7640" y="12978"/>
                        <a:pt x="8173" y="12978"/>
                      </a:cubicBezTo>
                      <a:cubicBezTo>
                        <a:pt x="9308" y="12978"/>
                        <a:pt x="10475" y="12811"/>
                        <a:pt x="11509" y="12444"/>
                      </a:cubicBezTo>
                      <a:cubicBezTo>
                        <a:pt x="13444" y="11743"/>
                        <a:pt x="14978" y="10242"/>
                        <a:pt x="15445" y="8241"/>
                      </a:cubicBezTo>
                      <a:cubicBezTo>
                        <a:pt x="15645" y="7307"/>
                        <a:pt x="15579" y="6340"/>
                        <a:pt x="15245" y="5472"/>
                      </a:cubicBezTo>
                      <a:cubicBezTo>
                        <a:pt x="14845" y="4538"/>
                        <a:pt x="14344" y="3671"/>
                        <a:pt x="13811" y="2837"/>
                      </a:cubicBezTo>
                      <a:cubicBezTo>
                        <a:pt x="13477" y="2337"/>
                        <a:pt x="13110" y="1870"/>
                        <a:pt x="12677" y="1503"/>
                      </a:cubicBezTo>
                      <a:cubicBezTo>
                        <a:pt x="11394" y="365"/>
                        <a:pt x="9690" y="0"/>
                        <a:pt x="799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40"/>
                <p:cNvSpPr/>
                <p:nvPr/>
              </p:nvSpPr>
              <p:spPr>
                <a:xfrm>
                  <a:off x="3876275" y="4467350"/>
                  <a:ext cx="98625" cy="2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5" h="8457" extrusionOk="0">
                      <a:moveTo>
                        <a:pt x="286" y="0"/>
                      </a:moveTo>
                      <a:cubicBezTo>
                        <a:pt x="117" y="0"/>
                        <a:pt x="0" y="14"/>
                        <a:pt x="0" y="52"/>
                      </a:cubicBezTo>
                      <a:cubicBezTo>
                        <a:pt x="334" y="2721"/>
                        <a:pt x="668" y="5389"/>
                        <a:pt x="968" y="8058"/>
                      </a:cubicBezTo>
                      <a:cubicBezTo>
                        <a:pt x="968" y="8125"/>
                        <a:pt x="1401" y="8225"/>
                        <a:pt x="1401" y="8225"/>
                      </a:cubicBezTo>
                      <a:cubicBezTo>
                        <a:pt x="1735" y="8291"/>
                        <a:pt x="2102" y="8325"/>
                        <a:pt x="2435" y="8358"/>
                      </a:cubicBezTo>
                      <a:cubicBezTo>
                        <a:pt x="2538" y="8358"/>
                        <a:pt x="3391" y="8457"/>
                        <a:pt x="3764" y="8457"/>
                      </a:cubicBezTo>
                      <a:cubicBezTo>
                        <a:pt x="3876" y="8457"/>
                        <a:pt x="3944" y="8448"/>
                        <a:pt x="3937" y="8425"/>
                      </a:cubicBezTo>
                      <a:cubicBezTo>
                        <a:pt x="3603" y="5756"/>
                        <a:pt x="3269" y="3088"/>
                        <a:pt x="2969" y="419"/>
                      </a:cubicBezTo>
                      <a:cubicBezTo>
                        <a:pt x="2969" y="319"/>
                        <a:pt x="2569" y="252"/>
                        <a:pt x="2569" y="252"/>
                      </a:cubicBezTo>
                      <a:cubicBezTo>
                        <a:pt x="2235" y="152"/>
                        <a:pt x="1835" y="119"/>
                        <a:pt x="1501" y="85"/>
                      </a:cubicBezTo>
                      <a:cubicBezTo>
                        <a:pt x="1454" y="85"/>
                        <a:pt x="708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40"/>
                <p:cNvSpPr/>
                <p:nvPr/>
              </p:nvSpPr>
              <p:spPr>
                <a:xfrm>
                  <a:off x="3890450" y="4771200"/>
                  <a:ext cx="110100" cy="5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4" h="2276" extrusionOk="0">
                      <a:moveTo>
                        <a:pt x="945" y="0"/>
                      </a:moveTo>
                      <a:cubicBezTo>
                        <a:pt x="916" y="0"/>
                        <a:pt x="891" y="2"/>
                        <a:pt x="868" y="7"/>
                      </a:cubicBezTo>
                      <a:cubicBezTo>
                        <a:pt x="534" y="140"/>
                        <a:pt x="201" y="440"/>
                        <a:pt x="67" y="807"/>
                      </a:cubicBezTo>
                      <a:cubicBezTo>
                        <a:pt x="0" y="1141"/>
                        <a:pt x="67" y="1441"/>
                        <a:pt x="367" y="1608"/>
                      </a:cubicBezTo>
                      <a:cubicBezTo>
                        <a:pt x="701" y="1808"/>
                        <a:pt x="1201" y="1875"/>
                        <a:pt x="1568" y="1975"/>
                      </a:cubicBezTo>
                      <a:cubicBezTo>
                        <a:pt x="2169" y="2108"/>
                        <a:pt x="2836" y="2275"/>
                        <a:pt x="3403" y="2275"/>
                      </a:cubicBezTo>
                      <a:cubicBezTo>
                        <a:pt x="3703" y="2275"/>
                        <a:pt x="4070" y="2175"/>
                        <a:pt x="4237" y="1875"/>
                      </a:cubicBezTo>
                      <a:cubicBezTo>
                        <a:pt x="4404" y="1608"/>
                        <a:pt x="4237" y="1308"/>
                        <a:pt x="4037" y="1108"/>
                      </a:cubicBezTo>
                      <a:cubicBezTo>
                        <a:pt x="3886" y="976"/>
                        <a:pt x="3704" y="897"/>
                        <a:pt x="3520" y="842"/>
                      </a:cubicBezTo>
                      <a:lnTo>
                        <a:pt x="3520" y="842"/>
                      </a:lnTo>
                      <a:cubicBezTo>
                        <a:pt x="3558" y="816"/>
                        <a:pt x="3597" y="793"/>
                        <a:pt x="3636" y="772"/>
                      </a:cubicBezTo>
                      <a:lnTo>
                        <a:pt x="3636" y="772"/>
                      </a:lnTo>
                      <a:cubicBezTo>
                        <a:pt x="3636" y="773"/>
                        <a:pt x="3636" y="773"/>
                        <a:pt x="3636" y="774"/>
                      </a:cubicBezTo>
                      <a:cubicBezTo>
                        <a:pt x="3703" y="774"/>
                        <a:pt x="3703" y="774"/>
                        <a:pt x="3736" y="741"/>
                      </a:cubicBezTo>
                      <a:cubicBezTo>
                        <a:pt x="3870" y="674"/>
                        <a:pt x="3703" y="607"/>
                        <a:pt x="3603" y="607"/>
                      </a:cubicBezTo>
                      <a:cubicBezTo>
                        <a:pt x="3303" y="474"/>
                        <a:pt x="3036" y="440"/>
                        <a:pt x="2736" y="340"/>
                      </a:cubicBezTo>
                      <a:cubicBezTo>
                        <a:pt x="2369" y="274"/>
                        <a:pt x="1969" y="174"/>
                        <a:pt x="1602" y="140"/>
                      </a:cubicBezTo>
                      <a:cubicBezTo>
                        <a:pt x="1400" y="83"/>
                        <a:pt x="1124" y="0"/>
                        <a:pt x="9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479" name="Google Shape;479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07386" y="130783"/>
              <a:ext cx="183100" cy="5620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nek Latin"/>
              <a:buNone/>
              <a:defRPr sz="3400" b="1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83" r:id="rId4"/>
    <p:sldLayoutId id="2147483684" r:id="rId5"/>
    <p:sldLayoutId id="2147483685" r:id="rId6"/>
    <p:sldLayoutId id="214748368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4"/>
          <p:cNvSpPr/>
          <p:nvPr/>
        </p:nvSpPr>
        <p:spPr>
          <a:xfrm>
            <a:off x="6554925" y="236725"/>
            <a:ext cx="1737900" cy="2252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1" name="Google Shape;49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76589">
            <a:off x="5702545" y="9863"/>
            <a:ext cx="2620575" cy="20011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92" name="Google Shape;4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4259" y="4304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94" name="Google Shape;494;p44"/>
          <p:cNvSpPr txBox="1">
            <a:spLocks noGrp="1"/>
          </p:cNvSpPr>
          <p:nvPr>
            <p:ph type="ctrTitle"/>
          </p:nvPr>
        </p:nvSpPr>
        <p:spPr>
          <a:xfrm>
            <a:off x="1107775" y="1018650"/>
            <a:ext cx="3980700" cy="29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Inventory Management System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95" name="Google Shape;495;p44"/>
          <p:cNvSpPr txBox="1"/>
          <p:nvPr/>
        </p:nvSpPr>
        <p:spPr>
          <a:xfrm rot="-5400000">
            <a:off x="8034525" y="710200"/>
            <a:ext cx="128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Business Plan</a:t>
            </a:r>
            <a:endParaRPr sz="1000" i="1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496" name="Google Shape;496;p44"/>
          <p:cNvSpPr txBox="1"/>
          <p:nvPr/>
        </p:nvSpPr>
        <p:spPr>
          <a:xfrm>
            <a:off x="6854888" y="602625"/>
            <a:ext cx="128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1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Business Plan</a:t>
            </a:r>
            <a:endParaRPr sz="1000" b="1" i="1">
              <a:solidFill>
                <a:schemeClr val="dk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01" y="0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/>
          <p:cNvSpPr txBox="1">
            <a:spLocks noGrp="1"/>
          </p:cNvSpPr>
          <p:nvPr>
            <p:ph type="title"/>
          </p:nvPr>
        </p:nvSpPr>
        <p:spPr>
          <a:xfrm flipH="1">
            <a:off x="982850" y="1428750"/>
            <a:ext cx="5698500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Project Overview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/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7DEE4-C06D-5E1E-416A-D94C62B9DC9F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3F1FBFE-CDCE-549E-D7D7-E0CD94AB5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105" y="30242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stock &amp; sales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role-based access: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Admin, Staff, Customer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E-commerce + smart reporting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dashboards &amp;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B45B1A48-F6BD-6470-7EEC-C7A01B37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B8F5482F-AB29-4753-47F1-FEA0F3D033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01" y="0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DED00D89-7C6D-A809-6EE8-60C378E93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982850" y="1428750"/>
            <a:ext cx="5698500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System Architecture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332A5AB5-0A0C-5134-CA99-7B998998D49F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F399F744-2463-AA88-DE37-C03B7FA10A0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F31069-9E8A-4663-75D6-22E5AD063153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01CFC-3FCD-F4F9-BCE4-44039FC51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291" y="31179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Spring Boot 3, JPA, JWT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React + Tailwind + Animations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Reports: PDF/Excel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Storage: Server Disk for product images</a:t>
            </a:r>
          </a:p>
        </p:txBody>
      </p:sp>
    </p:spTree>
    <p:extLst>
      <p:ext uri="{BB962C8B-B14F-4D97-AF65-F5344CB8AC3E}">
        <p14:creationId xmlns:p14="http://schemas.microsoft.com/office/powerpoint/2010/main" val="176064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01571F7E-217C-6528-E6BB-5A13CB91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0DF68B4F-0799-B038-E895-76B6ADE418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16" y="-11053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9760B05B-A659-ED22-697F-F749BC375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982850" y="1428750"/>
            <a:ext cx="5698500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Core Functional Modules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B9B5E0BA-987E-2CE6-AA57-514A4C5B8D28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27858DE1-C973-FA2B-3AA0-3A45D2B3889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075C9A-B56B-4FC4-400A-FE10330C0AE9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866D9-E199-D048-6487-B0342B1C2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120" y="2215350"/>
            <a:ext cx="38972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Authentication &amp; 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Product &amp; Category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Orders + Checkout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Inventory Stock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Rating &amp;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Notifications &amp; Email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Analytics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Profile &amp; Settings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D74A12BB-FBE1-C59E-7EC0-A0018F74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35BE29C4-EE1D-1AF7-E3DE-880D3EDCD5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16" y="-11053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5BCDD810-D492-93DE-2885-6F4AA553E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982850" y="1428750"/>
            <a:ext cx="5698500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Authentication + Security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1642B4D0-F006-0EC4-2FEE-935C614D3087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F2CD26EB-CB53-A064-FFB0-A225DFD18AD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B8EC4-915E-2D01-2B46-3F64B1688786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A0BD54-F384-FFF9-8C55-DE033E287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111" y="2381011"/>
            <a:ext cx="41248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JWT-secured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Role-based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OTP-based password reset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Encrypted passwords (</a:t>
            </a:r>
            <a:r>
              <a:rPr lang="en-IN" sz="1800" dirty="0" err="1"/>
              <a:t>BCrypt</a:t>
            </a:r>
            <a:r>
              <a:rPr lang="en-IN" sz="1800" dirty="0"/>
              <a:t>)</a:t>
            </a:r>
          </a:p>
          <a:p>
            <a:r>
              <a:rPr lang="en-IN" sz="1800" b="1" dirty="0"/>
              <a:t>Roles:</a:t>
            </a:r>
            <a:r>
              <a:rPr lang="en-IN" sz="1800" dirty="0"/>
              <a:t> ADMIN | STAFF | CUSTOMER</a:t>
            </a:r>
          </a:p>
        </p:txBody>
      </p:sp>
    </p:spTree>
    <p:extLst>
      <p:ext uri="{BB962C8B-B14F-4D97-AF65-F5344CB8AC3E}">
        <p14:creationId xmlns:p14="http://schemas.microsoft.com/office/powerpoint/2010/main" val="1344097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491C66C7-0636-FC35-12E9-5A5AE4F6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F889E368-6AF5-F9CB-70D9-E171D291EA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D7C06558-6770-9012-C8A5-7EA1F5167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Product &amp; Category Management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D2C6A775-AEDD-F89B-FE66-3E08AD77D274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7E511E14-23C3-F34A-7D57-0DC311A433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109363-AF1C-6F46-92BF-D4C99F001BFB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FDAA6-C0C4-8091-3D0D-A3B996FE6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111" y="2242512"/>
            <a:ext cx="55386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Admin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Add/Edit/Delete products &amp;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Upload image files OR use public URLs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Track stock, price, SKU, brand, featured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Search + filters + category-based listing (all roles)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309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EFCDF4BB-4A7D-1615-2014-6A96C7DA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E0122D70-D2F9-8A6D-CBB1-B85F299335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ED7DD595-BA32-1B97-1E57-DE622021C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Inventory Management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62C666F8-5172-4445-D47B-2DEA262B57D9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44D90E7C-523F-D120-ED2C-D2E1C6214A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A7A09-1DBC-6D09-92D0-BF1092B4D2A2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63564-EE4B-3BFC-EC63-B60BBAA04635}"/>
              </a:ext>
            </a:extLst>
          </p:cNvPr>
          <p:cNvSpPr txBox="1"/>
          <p:nvPr/>
        </p:nvSpPr>
        <p:spPr>
          <a:xfrm>
            <a:off x="1655934" y="2431994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Quantity on hand / Reserved / Available stock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Low-stock alerts → email &amp;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Auto stock adjustments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Checkout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Order cancellation (restock)</a:t>
            </a:r>
          </a:p>
        </p:txBody>
      </p:sp>
    </p:spTree>
    <p:extLst>
      <p:ext uri="{BB962C8B-B14F-4D97-AF65-F5344CB8AC3E}">
        <p14:creationId xmlns:p14="http://schemas.microsoft.com/office/powerpoint/2010/main" val="100131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0840A0B6-05CC-F96D-6C3B-380C92BE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51194C60-3E68-2F09-5659-5BA1E36A38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14C4FDF6-8CE7-892F-68F7-9EBA271B8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Customer Shopping Experience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7E049887-F0A7-F88B-B905-C4B857F36645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D880640B-5170-B150-891D-C4D154CD720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6E632A-4052-0CF1-1683-5D5DAAC8870A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2BBB1-85EA-026A-D137-5242E93C1562}"/>
              </a:ext>
            </a:extLst>
          </p:cNvPr>
          <p:cNvSpPr txBox="1"/>
          <p:nvPr/>
        </p:nvSpPr>
        <p:spPr>
          <a:xfrm>
            <a:off x="1655934" y="2431994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Browse + advanced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Wishlist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Cart quantity control with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Multi-address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Purchase history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0588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4085625D-371C-64CA-3DAB-C1C41AE6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F1159B41-F6BB-9B09-585A-E458407AA4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15" y="-59556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6F50D604-13BF-A1E6-CA1A-1531F84DA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Order Life Cycle</a:t>
            </a:r>
            <a:endParaRPr b="0" dirty="0">
              <a:solidFill>
                <a:schemeClr val="accent3"/>
              </a:solidFill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1FD3BE94-C0CE-A94A-3C15-1420A9AA83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2FA88-61D9-E2E8-4B37-B01D205CF194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2A2D3-9EA1-BE69-33D2-461CABEFFF84}"/>
              </a:ext>
            </a:extLst>
          </p:cNvPr>
          <p:cNvSpPr txBox="1"/>
          <p:nvPr/>
        </p:nvSpPr>
        <p:spPr>
          <a:xfrm>
            <a:off x="973880" y="2440779"/>
            <a:ext cx="69964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Statuses:</a:t>
            </a:r>
            <a:br>
              <a:rPr lang="en-US" sz="1600" dirty="0"/>
            </a:br>
            <a:r>
              <a:rPr lang="en-US" sz="1600" dirty="0"/>
              <a:t>PENDING → PROCESSING → SHIPPED → DELIVERED → CANCELLED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status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Admin/Staff can assign &amp; process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can cancel before shipment</a:t>
            </a:r>
          </a:p>
        </p:txBody>
      </p:sp>
    </p:spTree>
    <p:extLst>
      <p:ext uri="{BB962C8B-B14F-4D97-AF65-F5344CB8AC3E}">
        <p14:creationId xmlns:p14="http://schemas.microsoft.com/office/powerpoint/2010/main" val="95866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364DE817-D227-46CC-9986-4EE45940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18F6411F-8ADC-82DD-4330-2D3B3FE1AA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DD139F78-789F-A7BA-EFC1-CA5E20BA8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Ratings &amp; Reviews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9B9B56F1-DC36-1F63-BD7B-674C1A4AEDD4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5B1007C7-9CF9-9DBC-199C-83AEDB0367C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C79AE3-2848-7274-0DBD-72741087D93F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85072-7DCB-7FF2-CEB3-CA8AF3A95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531" y="2458659"/>
            <a:ext cx="45865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for purchased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Edit/delete own review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rating aut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-calculated &amp; displayed</a:t>
            </a:r>
          </a:p>
        </p:txBody>
      </p:sp>
    </p:spTree>
    <p:extLst>
      <p:ext uri="{BB962C8B-B14F-4D97-AF65-F5344CB8AC3E}">
        <p14:creationId xmlns:p14="http://schemas.microsoft.com/office/powerpoint/2010/main" val="88984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724C4C9C-56F7-EC4E-5F50-D08EE718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534B73B4-F268-0744-4009-D775EA7823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E663C304-867C-A562-97D6-95AD9D086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Email Automation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C2CEAC29-8663-7530-E544-FD9FF759D6C2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D73D1CD1-8535-22E9-3458-803F1B06EC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F344AD-0143-4D96-D1A9-6AD8A6D31EED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7B09AF-AB02-DFF8-59F1-E722E187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531" y="2320160"/>
            <a:ext cx="29097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Emails: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Order confirmation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Status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OTP for password reset</a:t>
            </a:r>
          </a:p>
        </p:txBody>
      </p:sp>
    </p:spTree>
    <p:extLst>
      <p:ext uri="{BB962C8B-B14F-4D97-AF65-F5344CB8AC3E}">
        <p14:creationId xmlns:p14="http://schemas.microsoft.com/office/powerpoint/2010/main" val="2079741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48E9899C-9AD0-7608-429E-E3A2E08D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84CEB384-E5F4-2E36-609D-FA44C0D2C3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D090EB7B-77CC-C58B-633A-0F204C13B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Dashboards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758E08D3-7625-3EAE-60E4-164619086403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210C87E5-CFB4-F650-D547-8675DE77F1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193C1-1FFD-DCC6-13DE-0742C718CB2D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998DF7-310B-E48B-7B19-66079D35E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531" y="2320160"/>
            <a:ext cx="50866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Admin:</a:t>
            </a:r>
            <a:r>
              <a:rPr lang="en-US" sz="1800" dirty="0"/>
              <a:t> Revenue, users, stock alerts, top sales</a:t>
            </a:r>
            <a:br>
              <a:rPr lang="en-US" sz="1800" dirty="0"/>
            </a:br>
            <a:r>
              <a:rPr lang="en-US" sz="1800" b="1" dirty="0"/>
              <a:t>Staff:</a:t>
            </a:r>
            <a:r>
              <a:rPr lang="en-US" sz="1800" dirty="0"/>
              <a:t> Assigned orders, daily performance</a:t>
            </a:r>
            <a:br>
              <a:rPr lang="en-US" sz="1800" dirty="0"/>
            </a:br>
            <a:r>
              <a:rPr lang="en-US" sz="1800" b="1" dirty="0"/>
              <a:t>Customer:</a:t>
            </a:r>
            <a:r>
              <a:rPr lang="en-US" sz="1800" dirty="0"/>
              <a:t> Recent orders, </a:t>
            </a:r>
            <a:r>
              <a:rPr lang="en-US" sz="1800" dirty="0" err="1"/>
              <a:t>wishlist</a:t>
            </a:r>
            <a:r>
              <a:rPr lang="en-US" sz="1800" dirty="0"/>
              <a:t> stats</a:t>
            </a:r>
          </a:p>
          <a:p>
            <a:r>
              <a:rPr lang="en-US" sz="1800" dirty="0"/>
              <a:t>All dashboards feature </a:t>
            </a:r>
            <a:r>
              <a:rPr lang="en-US" sz="1800" b="1" dirty="0"/>
              <a:t>real-time metrics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390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1A47807D-78FF-B257-47E3-8EF3C7A1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5CEE986C-5006-16EC-8DE8-C660340EC44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AAB62EC7-2D1B-5DD5-2147-4762437C4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Reports &amp; Analytics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4706AAF9-75BD-6E92-FDEC-C834FCBF1B06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04A1689A-1282-44EA-223E-1A0D2C6683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CD3383-32E0-99B7-C61D-665579EA2459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3D0642-831F-7CEE-4B6A-B9A9BCD2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918" y="2170898"/>
            <a:ext cx="32453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Export formats: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PDF, Excel, CSV</a:t>
            </a:r>
          </a:p>
          <a:p>
            <a:br>
              <a:rPr lang="en-US" sz="1800" dirty="0"/>
            </a:br>
            <a:r>
              <a:rPr lang="en-US" sz="1800" dirty="0"/>
              <a:t>Available reports: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Sales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Inventory stock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Order history (customer)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Staff activity</a:t>
            </a:r>
          </a:p>
        </p:txBody>
      </p:sp>
    </p:spTree>
    <p:extLst>
      <p:ext uri="{BB962C8B-B14F-4D97-AF65-F5344CB8AC3E}">
        <p14:creationId xmlns:p14="http://schemas.microsoft.com/office/powerpoint/2010/main" val="161504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8F3EECEE-F987-659A-EAD5-4EFD78DD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7">
            <a:extLst>
              <a:ext uri="{FF2B5EF4-FFF2-40B4-BE49-F238E27FC236}">
                <a16:creationId xmlns:a16="http://schemas.microsoft.com/office/drawing/2014/main" id="{46FB723A-7107-2D83-E290-919EEC0D1A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47" y="-53209"/>
            <a:ext cx="6705249" cy="2491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99BD52DB-10BB-1450-80C2-649F0F679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91647" y="1315770"/>
            <a:ext cx="6886986" cy="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Profile &amp; Settings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539" name="Google Shape;539;p47">
            <a:extLst>
              <a:ext uri="{FF2B5EF4-FFF2-40B4-BE49-F238E27FC236}">
                <a16:creationId xmlns:a16="http://schemas.microsoft.com/office/drawing/2014/main" id="{0FB04D5B-455C-A178-7DB4-F8B21622E5E3}"/>
              </a:ext>
            </a:extLst>
          </p:cNvPr>
          <p:cNvSpPr txBox="1"/>
          <p:nvPr/>
        </p:nvSpPr>
        <p:spPr>
          <a:xfrm rot="-773">
            <a:off x="7087859" y="2774462"/>
            <a:ext cx="1335000" cy="18294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nek Latin"/>
                <a:ea typeface="Anek Latin"/>
                <a:cs typeface="Anek Latin"/>
                <a:sym typeface="Anek Latin"/>
              </a:rPr>
              <a:t>Remember!!!</a:t>
            </a:r>
            <a:endParaRPr sz="1300" b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Font typeface="Anek Latin"/>
              <a:buChar char="●"/>
            </a:pPr>
            <a:r>
              <a:rPr lang="en" sz="900" i="1">
                <a:latin typeface="Anek Latin"/>
                <a:ea typeface="Anek Latin"/>
                <a:cs typeface="Anek Latin"/>
                <a:sym typeface="Anek Latin"/>
              </a:rPr>
              <a:t>To do</a:t>
            </a:r>
            <a:endParaRPr sz="900" i="1"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540" name="Google Shape;540;p47">
            <a:extLst>
              <a:ext uri="{FF2B5EF4-FFF2-40B4-BE49-F238E27FC236}">
                <a16:creationId xmlns:a16="http://schemas.microsoft.com/office/drawing/2014/main" id="{F2FF8C04-754C-E7FE-5835-769347CAE5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568509" y="3565296"/>
            <a:ext cx="1385265" cy="1018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344BEA-9BE0-07FA-CD20-F7E37A43EC79}"/>
              </a:ext>
            </a:extLst>
          </p:cNvPr>
          <p:cNvSpPr txBox="1"/>
          <p:nvPr/>
        </p:nvSpPr>
        <p:spPr>
          <a:xfrm>
            <a:off x="4114800" y="210237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1AF95-30BD-B3AE-C01F-FB9020E4AAA5}"/>
              </a:ext>
            </a:extLst>
          </p:cNvPr>
          <p:cNvSpPr txBox="1"/>
          <p:nvPr/>
        </p:nvSpPr>
        <p:spPr>
          <a:xfrm>
            <a:off x="1558271" y="2456355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Profile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Change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Dark/Light theme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Email &amp; push notification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Avatar support</a:t>
            </a:r>
          </a:p>
        </p:txBody>
      </p:sp>
    </p:spTree>
    <p:extLst>
      <p:ext uri="{BB962C8B-B14F-4D97-AF65-F5344CB8AC3E}">
        <p14:creationId xmlns:p14="http://schemas.microsoft.com/office/powerpoint/2010/main" val="181443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8368B778-93F1-2CF3-0F39-CADBFE55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68F72A-3429-0B2C-89D5-63E6CA9D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70227" y="709222"/>
            <a:ext cx="5698500" cy="7866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E1CB9-2A1F-D493-CA66-F54AE58F47BD}"/>
              </a:ext>
            </a:extLst>
          </p:cNvPr>
          <p:cNvSpPr txBox="1"/>
          <p:nvPr/>
        </p:nvSpPr>
        <p:spPr>
          <a:xfrm>
            <a:off x="2049905" y="2026304"/>
            <a:ext cx="5044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/>
              <a:t>✔ Fully functional Inventory + Sales platform</a:t>
            </a:r>
            <a:br>
              <a:rPr lang="en-US" sz="1800" dirty="0"/>
            </a:br>
            <a:r>
              <a:rPr lang="en-US" sz="1800" dirty="0"/>
              <a:t>✔ Scalable architecture</a:t>
            </a:r>
            <a:br>
              <a:rPr lang="en-US" sz="1800" dirty="0"/>
            </a:br>
            <a:r>
              <a:rPr lang="en-US" sz="1800" dirty="0"/>
              <a:t>✔ Improved operational efficiency</a:t>
            </a:r>
            <a:br>
              <a:rPr lang="en-US" sz="1800" dirty="0"/>
            </a:br>
            <a:r>
              <a:rPr lang="en-US" sz="1800" dirty="0"/>
              <a:t>✔ Modern UI with professional UX</a:t>
            </a:r>
          </a:p>
        </p:txBody>
      </p:sp>
    </p:spTree>
    <p:extLst>
      <p:ext uri="{BB962C8B-B14F-4D97-AF65-F5344CB8AC3E}">
        <p14:creationId xmlns:p14="http://schemas.microsoft.com/office/powerpoint/2010/main" val="2322319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7ED1A856-99ED-CE99-B2D5-AA4E9CE5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C8D30E-8983-F286-A4D8-FCD04175246C}"/>
              </a:ext>
            </a:extLst>
          </p:cNvPr>
          <p:cNvSpPr txBox="1"/>
          <p:nvPr/>
        </p:nvSpPr>
        <p:spPr>
          <a:xfrm>
            <a:off x="3046751" y="2143593"/>
            <a:ext cx="3050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1312883"/>
      </p:ext>
    </p:extLst>
  </p:cSld>
  <p:clrMapOvr>
    <a:masterClrMapping/>
  </p:clrMapOvr>
</p:sld>
</file>

<file path=ppt/theme/theme1.xml><?xml version="1.0" encoding="utf-8"?>
<a:theme xmlns:a="http://schemas.openxmlformats.org/drawingml/2006/main" name="Inventory Management System Business Plan by Slidesgo">
  <a:themeElements>
    <a:clrScheme name="Simple Light">
      <a:dk1>
        <a:srgbClr val="212121"/>
      </a:dk1>
      <a:lt1>
        <a:srgbClr val="FFFFFF"/>
      </a:lt1>
      <a:dk2>
        <a:srgbClr val="435D74"/>
      </a:dk2>
      <a:lt2>
        <a:srgbClr val="F3F3F3"/>
      </a:lt2>
      <a:accent1>
        <a:srgbClr val="84BDE7"/>
      </a:accent1>
      <a:accent2>
        <a:srgbClr val="9FD9E0"/>
      </a:accent2>
      <a:accent3>
        <a:srgbClr val="EB3B3B"/>
      </a:accent3>
      <a:accent4>
        <a:srgbClr val="5C9AC7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465</Words>
  <Application>Microsoft Office PowerPoint</Application>
  <PresentationFormat>On-screen Show (16:9)</PresentationFormat>
  <Paragraphs>130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Inventory Management System Business Plan by Slidesgo</vt:lpstr>
      <vt:lpstr>Inventory Management System</vt:lpstr>
      <vt:lpstr>Project Overview</vt:lpstr>
      <vt:lpstr>System Architecture</vt:lpstr>
      <vt:lpstr>Core Functional Modules</vt:lpstr>
      <vt:lpstr>Authentication + Security</vt:lpstr>
      <vt:lpstr>Product &amp; Category Management</vt:lpstr>
      <vt:lpstr>Inventory Management</vt:lpstr>
      <vt:lpstr>Customer Shopping Experience</vt:lpstr>
      <vt:lpstr>Order Life Cycle</vt:lpstr>
      <vt:lpstr>Ratings &amp; Reviews</vt:lpstr>
      <vt:lpstr>Email Automation</vt:lpstr>
      <vt:lpstr>Dashboards</vt:lpstr>
      <vt:lpstr>Reports &amp; Analytics</vt:lpstr>
      <vt:lpstr>Profile &amp; Settings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cp:lastModifiedBy>JAGATHEESHWARAN J</cp:lastModifiedBy>
  <cp:revision>2</cp:revision>
  <dcterms:modified xsi:type="dcterms:W3CDTF">2025-12-08T09:54:05Z</dcterms:modified>
</cp:coreProperties>
</file>